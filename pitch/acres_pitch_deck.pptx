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26522"/>
                </a:solidFill>
                <a:latin typeface="Helvetica Neue"/>
              </a:defRPr>
            </a:pPr>
            <a:r>
              <a:t>ACRES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4600" b="1">
                <a:solidFill>
                  <a:srgbClr val="18418A"/>
                </a:solidFill>
                <a:latin typeface="Helvetica Neue"/>
              </a:defRPr>
            </a:pPr>
            <a:r>
              <a:t>ACRES Clearance Automated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9875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2A3442"/>
                </a:solidFill>
                <a:latin typeface="Helvetica Neue"/>
              </a:defRPr>
            </a:pPr>
            <a:r>
              <a:t>A self-serve portal that turns a messy clearance request into a ready-to-submit ACRES row and routes it straight to the project executive — no middleman.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5120640"/>
            <a:ext cx="3474720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Helvetica Neue"/>
              </a:defRPr>
            </a:pPr>
            <a:r>
              <a:t>Self-serve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5120640"/>
            <a:ext cx="3767328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Helvetica Neue"/>
              </a:defRPr>
            </a:pPr>
            <a:r>
              <a:t>AI-assisted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59368" y="5120640"/>
            <a:ext cx="5522976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Helvetica Neue"/>
              </a:defRPr>
            </a:pPr>
            <a:r>
              <a:t>Working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Clearance is slow, fragmented and error-prone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A complex, 20+ column Excel sheet must be filled perfectly.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Project details — ops manager, department, clearance level — are scattered.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Applicants manually decode clearance categories and MSD reference numbers.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Requests bounce through a middleman before the project executive.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Wrong or incomplete rows cause rework and delay.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Sensitive data is handled ad hoc over email.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THE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Every hop and typo adds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Days of waiting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Per clearance, multiplied across a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Rework loops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Between applicant, middleman and executive.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Risk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Sensitive details scattered across email and spreadsheets.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No standard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Every request is formatted differently.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A self-serve portal that does the work 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Paste an email, or upload a PDF / image clearance document.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AI extracts and validates every required field.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Project details auto-fill from a project register.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Produces a standardized, ready-to-submit ACRES row.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Packages it and routes it directly to the project executive.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From messy input to routed request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1 · Input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Paste text or upload a scanned PDF/image.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2 · Read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OCR turns documents into 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3 · Understand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A language model extracts fields, constrained to a strict schema.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4 · Verify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Deterministic parsing for MSD M/…, categories like 1A/02/2B, and 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603504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5 · Assemble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Merge with the project register into one ACRES row.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0819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603504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6 · Route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Package and send to the project executive.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610819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WHERE AI IS USED — AND WHERE IT ISN'T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AI for language. Code for critical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AI does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Reading documents, extracting fields, drafting the “Nature of Involvement” sentence.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Deterministic code does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MSD reference numbers, clearance categories, dates, project lookup, validation, the final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Human-in-the-loop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Anything missing or mis-formatted is flagged for the user to fix.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Everything needed, built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Helvetica Neue"/>
              </a:defRPr>
            </a:pPr>
            <a:r>
              <a:t>•   AI Intake Assistant — paste anything, the form fills itself.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Helvetica Neue"/>
              </a:defRPr>
            </a:pPr>
            <a:r>
              <a:t>•   Document OCR — scanned PDFs and photos of forms.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Helvetica Neue"/>
              </a:defRPr>
            </a:pPr>
            <a:r>
              <a:t>•   Smart conditionals — locals vs foreigners; visit-reference country rules.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Helvetica Neue"/>
              </a:defRPr>
            </a:pPr>
            <a:r>
              <a:t>•   Format validation — NRIC, dates, mobile, email.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Helvetica Neue"/>
              </a:defRPr>
            </a:pPr>
            <a:r>
              <a:t>•   Project auto-fill — location, end date, ops manager, clearance level, department, executive.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Helvetica Neue"/>
              </a:defRPr>
            </a:pPr>
            <a:r>
              <a:t>•   Direct routing — recipient pre-filled; one-click email package.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Helvetica Neue"/>
              </a:defRPr>
            </a:pPr>
            <a:r>
              <a:t>•   Flexible AI backend — local (private) or cloud; free tiers supported.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WHY IT'S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It removes the middleman — not just digitises the 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Hybrid intelligence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LLM for language; deterministic code for critical values.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Privacy options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Can run fully local — clearance data never leaves the machine.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Self-serve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Applicants complete it themselves, correctly, first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Standardized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Same validated ACRES row for every project and person 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Built for everyone in the clearance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3474720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Helvetica Neue"/>
              </a:defRPr>
            </a:pPr>
            <a:r>
              <a:t>Applicants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2834640"/>
            <a:ext cx="5815583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Helvetica Neue"/>
              </a:defRPr>
            </a:pPr>
            <a:r>
              <a:t>Project executives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7623" y="2834640"/>
            <a:ext cx="4059935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Helvetica Neue"/>
              </a:defRPr>
            </a:pPr>
            <a:r>
              <a:t>Ops managers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041878" y="2834640"/>
            <a:ext cx="7571231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Helvetica Neue"/>
              </a:defRPr>
            </a:pPr>
            <a:r>
              <a:t>Project / security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3192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2A3442"/>
                </a:solidFill>
                <a:latin typeface="Helvetica Neue"/>
              </a:defRPr>
            </a:pPr>
            <a:r>
              <a:t>Applicants complete the form; executives receive a ready package; ops managers endorse; admin teams get consistency and an audit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Faster, cleaner, safer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Faster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Minutes instead of days of back-and-forth.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More accurate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Validated, standardized rows; fewer rework loops.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Less admin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The middleman step is eliminated.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Safer &amp; scalable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Privacy-preserving local AI; one flow for every project.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A working prototype, not a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Helvetica Neue"/>
              </a:defRPr>
            </a:pPr>
            <a:r>
              <a:t>•   Deployed and iterated with real feedback.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Helvetica Neue"/>
              </a:defRPr>
            </a:pPr>
            <a:r>
              <a:t>•   Reads real scanned clearance documents (OCR + AI).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Helvetica Neue"/>
              </a:defRPr>
            </a:pPr>
            <a:r>
              <a:t>•   Handles the full ACRES field set and per-project routing.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Helvetica Neue"/>
              </a:defRPr>
            </a:pPr>
            <a:r>
              <a:t>•   AI backend options integrated: local Ollama, Gemini free tier, OpenCode Go, any OpenAI-compatible provider.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From prototype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Real email sending (SMTP/API) with delivery receipts.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Live project-register integration and SSO / role-based access.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Audit trail and submission tracking.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Multiple clearance rows per applicant; category-aware routing.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Analytics: time-to-clearance, error rates, bottlenecks.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Helvetica Neue"/>
              </a:defRPr>
            </a:pPr>
            <a:r>
              <a:t>Handled deliberately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Sensitive data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Local model option; access codes; minimal retention.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Model accuracy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Schema constraints + deterministic parsing + human review.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Adoption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Works alongside the existing Excel template; low training.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Helvetica Neue"/>
              </a:defRPr>
            </a:pPr>
            <a:r>
              <a:t>Process variation</a:t>
            </a:r>
          </a:p>
          <a:p>
            <a:pPr>
              <a:defRPr sz="1300">
                <a:solidFill>
                  <a:srgbClr val="2A3442"/>
                </a:solidFill>
                <a:latin typeface="Helvetica Neue"/>
              </a:defRPr>
            </a:pPr>
            <a:r>
              <a:t>Routing is configurable per project.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Helvetica Neue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4000" b="1">
                <a:solidFill>
                  <a:srgbClr val="18418A"/>
                </a:solidFill>
                <a:latin typeface="Helvetica Neue"/>
              </a:defRPr>
            </a:pPr>
            <a:r>
              <a:t>Let's clear the middleman.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0424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Pilot with one project team.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Gather feedback from applicants, ops managers and project executives.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Measure time-to-clearance and rework, before and after.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Helvetica Neue"/>
              </a:defRPr>
            </a:pPr>
            <a:r>
              <a:t>•   Expand to more projects.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Helvetica Neue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