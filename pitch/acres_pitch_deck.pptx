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Today, getting ACRES clearance is a manual, multi-step chase. ACRESelerate collapses it into one self-serve flow. Note: this is a prototype and security is not addressed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hop and every typo adds days. Applicants decode categories and MSD numbers by hand, then chase project details.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real cost is time: waiting, rework loops, and risk from scattered sensitive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middleman disappears — the applicant goes straight to the person who submits for clearance.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Paste or upload, AI extracts, deterministic code verifies the critical codes, then we assemble and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deliberately don't trust the model with reference numbers — those are parsed deterministically, so we get AI's flexibility without its hallucinations.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needed is already built: assistant, OCR, conditionals, validation, auto-fill and routing.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External parties often don't know the project. They enter a confidential code; the real project details are attached automatically and never shown to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doesn't just digitise the form — it removes the middleman and keeps a private, local option.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Applicants, executives, ops managers and admin teams all benefit.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Faster, more accurate, less admin, safer and scalable across projects.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working prototype, tested on real scanned clearance documents.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Demos use a fake person, the AI is ready for the enterprise provider, and a mobile code confirms the submission.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ChatGPT Enterprise (via the org's OpenAI API Platform) does the document understanding, structured field extraction and drafting — locked to the approved provider, with no training on our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be explicit: this is a prototype. Security, data handling and compliance are not addressed yet, and only fake data should be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Next: Singpass login to verify identity and auto-fill personal details, then email sending, register integration and a security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Sensitive data and model accuracy are handled with local AI and deterministic parsing.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ask: pilot with one project team and measure the before/after.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54864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26522"/>
                </a:solidFill>
                <a:latin typeface="Arial"/>
              </a:defRPr>
            </a:pPr>
            <a:r>
              <a:t>ACRES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20116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5400" b="1">
                <a:solidFill>
                  <a:srgbClr val="18418A"/>
                </a:solidFill>
                <a:latin typeface="Arial"/>
              </a:defRPr>
            </a:pPr>
            <a:r>
              <a:t>ACRESelerate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9875520" cy="1463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2A3442"/>
                </a:solidFill>
                <a:latin typeface="Arial"/>
              </a:defRPr>
            </a:pPr>
            <a:r>
              <a:t>A self-serve portal that turns a messy clearance request into a ready-to-submit ACRES row and routes it straight to the project executive — no middleman.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4663440"/>
            <a:ext cx="3474720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18418A"/>
                </a:solidFill>
                <a:latin typeface="Arial"/>
              </a:defRPr>
            </a:pPr>
            <a:r>
              <a:t>Self-serve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17720" y="4663440"/>
            <a:ext cx="3767328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18418A"/>
                </a:solidFill>
                <a:latin typeface="Arial"/>
              </a:defRPr>
            </a:pPr>
            <a:r>
              <a:t>AI-assisted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59368" y="4663440"/>
            <a:ext cx="318211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18418A"/>
                </a:solidFill>
                <a:latin typeface="Arial"/>
              </a:defRPr>
            </a:pPr>
            <a:r>
              <a:t>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94960"/>
            <a:ext cx="10515600" cy="5486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Prototype only — security and data-handling are not addressed at this stage.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Clearance is slow, fragmented and error-prone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51760"/>
            <a:ext cx="10424160" cy="3840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A complex, 20+ column Excel sheet must be filled perfectly.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Project details — ops manager, department, clearance level — are scattered.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Applicants manually decode clearance categories and MSD reference numbers.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Requests bounce through a middleman before the project executive.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Wrong or incomplete rows cause rework and delay.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Sensitive data is handled ad hoc over email.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THE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Every hop and typo adds days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Days of waiting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Per clearance, multiplied across a project.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2491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Rework loops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Between applicant, middleman and executive.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72491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Risk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Sensitive details scattered across email and spreadsheets.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41655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No standard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Every request is formatted differently.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441655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A self-serve portal that does the work for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51760"/>
            <a:ext cx="10424160" cy="3840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Paste an email, or upload a PDF / image clearance document.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AI extracts and validates every required field.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Project details auto-fill from a project register.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Produces a standardized, ready-to-submit ACRES row.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Packages it and routes it directly to the project executive.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From messy input to routed request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1 · Input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Paste text or upload a scanned PDF/image.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2491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2 · Read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OCR turns documents into text.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72491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3 · Understand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A language model extracts fields, constrained to a strict schema.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41655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4 · Verify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Deterministic parsing for MSD M/…, categories like 1A/02/2B, and dates.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4416552"/>
            <a:ext cx="82296" cy="1225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603504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5 · Assemble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Merge with the project register into one ACRES row.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6108192"/>
            <a:ext cx="82296" cy="1225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55080" y="603504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6 · Route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Package and send to the project executive.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610819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WHERE AI IS USED — AND WHERE IT ISN'T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AI for language. Code for critical values.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AI does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Reading documents, extracting fields, drafting the “Nature of Involvement” sentence.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2491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Deterministic code does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MSD reference numbers, clearance categories, dates, project lookup, validation, the final row.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724912"/>
            <a:ext cx="82296" cy="1225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Human-in-the-loop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Anything missing or mis-formatted is flagged for the user to fix.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41655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Everything needed, built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51760"/>
            <a:ext cx="10424160" cy="3840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2A3442"/>
                </a:solidFill>
                <a:latin typeface="Arial"/>
              </a:defRPr>
            </a:pPr>
            <a:r>
              <a:t>•   AI Intake Assistant — paste anything, the form fills itself.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2A3442"/>
                </a:solidFill>
                <a:latin typeface="Arial"/>
              </a:defRPr>
            </a:pPr>
            <a:r>
              <a:t>•   Document OCR — scanned PDFs and photos of forms.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2A3442"/>
                </a:solidFill>
                <a:latin typeface="Arial"/>
              </a:defRPr>
            </a:pPr>
            <a:r>
              <a:t>•   Smart conditionals — locals vs foreigners; visit-reference country rules.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2A3442"/>
                </a:solidFill>
                <a:latin typeface="Arial"/>
              </a:defRPr>
            </a:pPr>
            <a:r>
              <a:t>•   Format validation — NRIC, dates, mobile, email.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2A3442"/>
                </a:solidFill>
                <a:latin typeface="Arial"/>
              </a:defRPr>
            </a:pPr>
            <a:r>
              <a:t>•   Project auto-fill — location, end date, ops manager, clearance level, department, executive.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2A3442"/>
                </a:solidFill>
                <a:latin typeface="Arial"/>
              </a:defRPr>
            </a:pPr>
            <a:r>
              <a:t>•   Direct routing — recipient pre-filled; one-click email package.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2A3442"/>
                </a:solidFill>
                <a:latin typeface="Arial"/>
              </a:defRPr>
            </a:pPr>
            <a:r>
              <a:t>•   Flexible AI backend — local (private) or cloud; free tiers supported.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BUILT FOR INTERNAL AND EXTERNAL PARTIES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External parties never see the real project details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Internal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Knows the project; selects it and sees all project fields.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2491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External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Enters a confidential project code (e.g. ALPHA-7X3K).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72491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Auto-resolved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The real project details are attached automatically.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416552"/>
            <a:ext cx="82296" cy="1225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Kept confidential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Name, location, ops manager and clearance level stay hidden.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4416552"/>
            <a:ext cx="82296" cy="1225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WHY IT'S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It removes the middleman — not just digitises the 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Hybrid intelligence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LLM for language; deterministic code for critical values.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2491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Privacy options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Can run fully local — clearance data never leaves the machine.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724912"/>
            <a:ext cx="82296" cy="1225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Self-serve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Applicants complete it themselves, correctly, first time.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41655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Standardized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Same validated ACRES row for every project and person type.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441655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WHO IT'S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Built for everyone in the clearance chain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834640"/>
            <a:ext cx="3474720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18418A"/>
                </a:solidFill>
                <a:latin typeface="Arial"/>
              </a:defRPr>
            </a:pPr>
            <a:r>
              <a:t>Applicants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17720" y="2834640"/>
            <a:ext cx="5815583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18418A"/>
                </a:solidFill>
                <a:latin typeface="Arial"/>
              </a:defRPr>
            </a:pPr>
            <a:r>
              <a:t>Project executives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7623" y="2834640"/>
            <a:ext cx="4059935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18418A"/>
                </a:solidFill>
                <a:latin typeface="Arial"/>
              </a:defRPr>
            </a:pPr>
            <a:r>
              <a:t>Ops managers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041878" y="2834640"/>
            <a:ext cx="7571231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18418A"/>
                </a:solidFill>
                <a:latin typeface="Arial"/>
              </a:defRPr>
            </a:pPr>
            <a:r>
              <a:t>Project / security admin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931920"/>
            <a:ext cx="1042416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2A3442"/>
                </a:solidFill>
                <a:latin typeface="Arial"/>
              </a:defRPr>
            </a:pPr>
            <a:r>
              <a:t>Applicants complete the form; executives receive a ready package; ops managers endorse; admin teams get consistency and an audit trail.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Faster, cleaner, safer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Faster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Minutes instead of days of back-and-forth.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24912"/>
            <a:ext cx="82296" cy="1225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More accurate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Validated, standardized rows; fewer rework loops.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724912"/>
            <a:ext cx="82296" cy="1225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Less admin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The middleman step is eliminated.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41655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Safer &amp; scalable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Privacy-preserving local AI; one flow for every project.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441655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A working prototype, not a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51760"/>
            <a:ext cx="10424160" cy="3840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1000"/>
              </a:spcAft>
              <a:defRPr sz="1700" b="0">
                <a:solidFill>
                  <a:srgbClr val="2A3442"/>
                </a:solidFill>
                <a:latin typeface="Arial"/>
              </a:defRPr>
            </a:pPr>
            <a:r>
              <a:t>•   Deployed and iterated with real feedback.</a:t>
            </a:r>
          </a:p>
          <a:p>
            <a:pPr algn="l">
              <a:spcAft>
                <a:spcPts val="1000"/>
              </a:spcAft>
              <a:defRPr sz="1700" b="0">
                <a:solidFill>
                  <a:srgbClr val="2A3442"/>
                </a:solidFill>
                <a:latin typeface="Arial"/>
              </a:defRPr>
            </a:pPr>
            <a:r>
              <a:t>•   Reads real scanned clearance documents (OCR + AI).</a:t>
            </a:r>
          </a:p>
          <a:p>
            <a:pPr algn="l">
              <a:spcAft>
                <a:spcPts val="1000"/>
              </a:spcAft>
              <a:defRPr sz="1700" b="0">
                <a:solidFill>
                  <a:srgbClr val="2A3442"/>
                </a:solidFill>
                <a:latin typeface="Arial"/>
              </a:defRPr>
            </a:pPr>
            <a:r>
              <a:t>•   Handles the full ACRES field set and per-project routing.</a:t>
            </a:r>
          </a:p>
          <a:p>
            <a:pPr algn="l">
              <a:spcAft>
                <a:spcPts val="1000"/>
              </a:spcAft>
              <a:defRPr sz="1700" b="0">
                <a:solidFill>
                  <a:srgbClr val="2A3442"/>
                </a:solidFill>
                <a:latin typeface="Arial"/>
              </a:defRPr>
            </a:pPr>
            <a:r>
              <a:t>•   AI backend options integrated: local Ollama, Gemini free tier, OpenCode Go, any OpenAI-compatible provider.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SAFE TO DEMO, READY FOR ENTERPRISE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No real data, no lock-in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Fake demo person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One click fills a fake person (Pineapple Pete) into the AI assistant — no real data.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2491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Enterprise AI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Ready for the OpenAI API Platform; lock the app to one approved provider.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72491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Mobile verification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A verification code confirms the submission (simulated for now).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416552"/>
            <a:ext cx="82296" cy="1225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Privacy first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Can run fully local; project details stay confidential from external parties.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4416552"/>
            <a:ext cx="82296" cy="1225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POWERED BY CHATGPT ENTERPRISE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How ChatGPT Enterprise is used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Document understanding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Reads the uploaded clearance document (via OCR) and extracts the fields.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2491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Structured extraction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Fills the form from a pasted email or message, constrained to a strict schema.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72491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Drafting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Turns short notes into a clear 'Nature of Involvement' sentence.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416552"/>
            <a:ext cx="82296" cy="1225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Access &amp; governance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Called through the org's OpenAI API Platform (org/project), locked to the approved provider. No training on our data.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441655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IMPORTANT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This is a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51760"/>
            <a:ext cx="10424160" cy="3840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A proof of concept to show what is possible — not a production system.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Security, data-handling and compliance are deliberately NOT addressed at this stage.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Demos use fake data only; no real clearance information should be entered.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Any real rollout would require security review, access control and data governance first.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From prototype to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51760"/>
            <a:ext cx="10424160" cy="3840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1000"/>
              </a:spcAft>
              <a:defRPr sz="1700" b="0">
                <a:solidFill>
                  <a:srgbClr val="2A3442"/>
                </a:solidFill>
                <a:latin typeface="Arial"/>
              </a:defRPr>
            </a:pPr>
            <a:r>
              <a:t>•   Singpass login — verify identity and auto-fill personal details instantly.</a:t>
            </a:r>
          </a:p>
          <a:p>
            <a:pPr algn="l">
              <a:spcAft>
                <a:spcPts val="1000"/>
              </a:spcAft>
              <a:defRPr sz="1700" b="0">
                <a:solidFill>
                  <a:srgbClr val="2A3442"/>
                </a:solidFill>
                <a:latin typeface="Arial"/>
              </a:defRPr>
            </a:pPr>
            <a:r>
              <a:t>•   Real email sending (SMTP/API) with delivery receipts.</a:t>
            </a:r>
          </a:p>
          <a:p>
            <a:pPr algn="l">
              <a:spcAft>
                <a:spcPts val="1000"/>
              </a:spcAft>
              <a:defRPr sz="1700" b="0">
                <a:solidFill>
                  <a:srgbClr val="2A3442"/>
                </a:solidFill>
                <a:latin typeface="Arial"/>
              </a:defRPr>
            </a:pPr>
            <a:r>
              <a:t>•   Live project-register integration and role-based access.</a:t>
            </a:r>
          </a:p>
          <a:p>
            <a:pPr algn="l">
              <a:spcAft>
                <a:spcPts val="1000"/>
              </a:spcAft>
              <a:defRPr sz="1700" b="0">
                <a:solidFill>
                  <a:srgbClr val="2A3442"/>
                </a:solidFill>
                <a:latin typeface="Arial"/>
              </a:defRPr>
            </a:pPr>
            <a:r>
              <a:t>•   Security, data-handling and compliance review.</a:t>
            </a:r>
          </a:p>
          <a:p>
            <a:pPr algn="l">
              <a:spcAft>
                <a:spcPts val="1000"/>
              </a:spcAft>
              <a:defRPr sz="1700" b="0">
                <a:solidFill>
                  <a:srgbClr val="2A3442"/>
                </a:solidFill>
                <a:latin typeface="Arial"/>
              </a:defRPr>
            </a:pPr>
            <a:r>
              <a:t>•   Audit trail, submission tracking and analytics.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RISKS &amp; MITIGATIONS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607040" cy="12801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18418A"/>
                </a:solidFill>
                <a:latin typeface="Arial"/>
              </a:defRPr>
            </a:pPr>
            <a:r>
              <a:t>Handled deliberately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Sensitive data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Local model option; access codes; minimal retention.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2491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508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Model accuracy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Schema constraints + deterministic parsing + human review.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724912"/>
            <a:ext cx="82296" cy="122529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Adoption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Works alongside the existing Excel template; low training.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41655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434340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82880" tIns="137160"/>
          <a:lstStyle/>
          <a:p>
            <a:pPr algn="ctr">
              <a:spcAft>
                <a:spcPts val="300"/>
              </a:spcAft>
              <a:defRPr sz="1500" b="1">
                <a:solidFill>
                  <a:srgbClr val="18418A"/>
                </a:solidFill>
                <a:latin typeface="Arial"/>
              </a:defRPr>
            </a:pPr>
            <a:r>
              <a:t>Process variation</a:t>
            </a:r>
          </a:p>
          <a:p>
            <a:pPr>
              <a:defRPr sz="1300">
                <a:solidFill>
                  <a:srgbClr val="2A3442"/>
                </a:solidFill>
                <a:latin typeface="Arial"/>
              </a:defRPr>
            </a:pPr>
            <a:r>
              <a:t>Routing is configurable per project.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4416552"/>
            <a:ext cx="82296" cy="1225296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84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26522"/>
                </a:solidFill>
                <a:latin typeface="Arial"/>
              </a:defRPr>
            </a:pPr>
            <a: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1463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0"/>
              </a:spcAft>
              <a:defRPr sz="4000" b="1">
                <a:solidFill>
                  <a:srgbClr val="18418A"/>
                </a:solidFill>
                <a:latin typeface="Arial"/>
              </a:defRPr>
            </a:pPr>
            <a:r>
              <a:t>Let's clear the middleman.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834640"/>
            <a:ext cx="10424160" cy="38404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Pilot with one project team.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Gather feedback from applicants, ops managers and project executives.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Measure time-to-clearance and rework, before and after.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2A3442"/>
                </a:solidFill>
                <a:latin typeface="Arial"/>
              </a:defRPr>
            </a:pPr>
            <a:r>
              <a:t>•   Expand to more projects.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118872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A6472"/>
                </a:solidFill>
                <a:latin typeface="Arial"/>
              </a:defRPr>
            </a:pPr>
            <a: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